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3C348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2030</c:v>
                  </c:pt>
                  <c:pt idx="2">
                    <c:v>2035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2.97</c:v>
                </c:pt>
                <c:pt idx="1">
                  <c:v>6.3</c:v>
                </c:pt>
                <c:pt idx="2">
                  <c:v>12.15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C34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463040"/>
            <a:ext cx="4206240" cy="4206240"/>
          </a:xfrm>
          <a:prstGeom prst="ellipse">
            <a:avLst/>
          </a:prstGeom>
          <a:solidFill>
            <a:srgbClr val="2A2461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3657600" cy="3657600"/>
          </a:xfrm>
          <a:prstGeom prst="ellipse">
            <a:avLst/>
          </a:prstGeom>
          <a:solidFill>
            <a:srgbClr val="2A2461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914400"/>
            <a:ext cx="868680" cy="868680"/>
          </a:xfrm>
          <a:prstGeom prst="roundRect">
            <a:avLst>
              <a:gd name="adj" fmla="val 16842"/>
            </a:avLst>
          </a:prstGeom>
          <a:solidFill>
            <a:srgbClr val="2A246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11556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1488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LMS Bridge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48640" y="320040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AI-guided remediation that catches struggling STEM students before they fail.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548640" y="4069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pPr indent="0" marL="0">
              <a:buNone/>
            </a:pPr>
            <a:r>
              <a:rPr lang="en-US" sz="16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works in any LMS  ·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57150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Aljabbouli — NYU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NYU Entrepreneurs Challenge · New Venture Competition track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Early gaps compound — and gateway courses can't catch them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cumulative STEM, a week-3 misconception (binary, inheritance, probability) quietly sinks the student by week 9. Large classes can't give concept-level feedback in time, so students who slip early never recover.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444240" cy="2286000"/>
          </a:xfrm>
          <a:prstGeom prst="roundRect">
            <a:avLst>
              <a:gd name="adj" fmla="val 48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6974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6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25%+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77240" y="37033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drop, fail, or withdraw from intro chemistry — typical of gateway STEM courses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58640" y="2468880"/>
            <a:ext cx="3444240" cy="2286000"/>
          </a:xfrm>
          <a:prstGeom prst="roundRect">
            <a:avLst>
              <a:gd name="adj" fmla="val 48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7240" y="26974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2603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1% → ⅓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4587240" y="37033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1% of courses generate about a third of all unproductive credits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68640" y="2468880"/>
            <a:ext cx="3444240" cy="2286000"/>
          </a:xfrm>
          <a:prstGeom prst="roundRect">
            <a:avLst>
              <a:gd name="adj" fmla="val 48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97240" y="2697480"/>
            <a:ext cx="298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Hits URM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hardest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8397240" y="3703320"/>
            <a:ext cx="298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STEM courses disproportionately push out underrepresented students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498348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i="1" dirty="0">
                <a:solidFill>
                  <a:srgbClr val="6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DFW = lost tuition, hurt retention, jeopardized aid, and a wider equity gap. The LMS already records every quiz result — but the data sits retrospective and unused. The intervention never happens when it matters.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Turn assessment data into instant, guided tutoring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Bridge detects the likely misconception the moment a student misses a concept, then delivers a short, pedagogically constrained tutoring session — retrieval practice, Socratic questioning, mastery progression. It diagnoses and guides; it never hands over the answer.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30175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32004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8308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Inside your LMS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868680" y="3977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LTI 1.3 registration works in Canvas, Moodle, Brightspace &amp; Blackboard — roster and grades sync automatically.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09360" y="2697480"/>
            <a:ext cx="5303520" cy="2468880"/>
          </a:xfrm>
          <a:prstGeom prst="roundRect">
            <a:avLst>
              <a:gd name="adj" fmla="val 4444"/>
            </a:avLst>
          </a:prstGeom>
          <a:solidFill>
            <a:srgbClr val="3C348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629400" y="3017520"/>
            <a:ext cx="731520" cy="731520"/>
          </a:xfrm>
          <a:prstGeom prst="ellipse">
            <a:avLst/>
          </a:prstGeom>
          <a:solidFill>
            <a:srgbClr val="2A24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32004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543800" y="306324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Standalone (Sage)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6629400" y="397764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no-IT mini-LMS: an instructor shares a join code and starts in minutes. The wedge — one professor, zero approvals.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deployment modes = almost no adoption friction.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60-second recovery loop — automatic, in-course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35000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 · Detect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misses “inheritance” on a quiz. The system flags the concept-level gap.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980688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4373880" y="182880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3920" y="2148840"/>
            <a:ext cx="777240" cy="7772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088" y="235000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8200" y="306324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 · Remediate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48200" y="352044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auto-launches a guided session: a Socratic prompt, a retrieval question, a worked correction — active, not passive.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805928" y="2651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8199120" y="1828800"/>
            <a:ext cx="3413760" cy="2651760"/>
          </a:xfrm>
          <a:prstGeom prst="roundRect">
            <a:avLst>
              <a:gd name="adj" fmla="val 4138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19160" y="2148840"/>
            <a:ext cx="777240" cy="777240"/>
          </a:xfrm>
          <a:prstGeom prst="ellipse">
            <a:avLst/>
          </a:prstGeom>
          <a:solidFill>
            <a:srgbClr val="3C3489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0328" y="235000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73440" y="306324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 · Master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8473440" y="3520440"/>
            <a:ext cx="286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student re-attempts and recovers. The instructor dashboard shows who was at risk and who bounced back.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3C3489"/>
          </a:solidFill>
          <a:ln/>
        </p:spPr>
      </p:sp>
      <p:sp>
        <p:nvSpPr>
          <p:cNvPr id="22" name="Text 17"/>
          <p:cNvSpPr/>
          <p:nvPr/>
        </p:nvSpPr>
        <p:spPr>
          <a:xfrm>
            <a:off x="868680" y="48006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faculty trust it:  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won’t do the work for students. That single constraint is what makes professors allow an AI tutor in their course at all.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Three forces just made this possible — and urgent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13760" cy="2286000"/>
          </a:xfrm>
          <a:prstGeom prst="roundRect">
            <a:avLst>
              <a:gd name="adj" fmla="val 48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175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LLMs are ready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347472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Per-student, concept-level tutoring is affordable at scale for the first time.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373880" y="1828800"/>
            <a:ext cx="3413760" cy="2286000"/>
          </a:xfrm>
          <a:prstGeom prst="roundRect">
            <a:avLst>
              <a:gd name="adj" fmla="val 48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93920" y="21488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800" y="2331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48200" y="30175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LTI 1.3 is universal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48200" y="347472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integration now reaches every major LMS — no per-platform rebuild.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8199120" y="1828800"/>
            <a:ext cx="3413760" cy="2286000"/>
          </a:xfrm>
          <a:prstGeom prst="roundRect">
            <a:avLst>
              <a:gd name="adj" fmla="val 4800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519160" y="214884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040" y="23317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3440" y="301752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Budget + pressure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73440" y="3474720"/>
            <a:ext cx="286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Post-pandemic retention &amp; equity pressure has universities actively buying student-success tools.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54864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Adaptive-learning software market (USD B, estimate)</a:t>
            </a:r>
            <a:endParaRPr lang="en-US" sz="13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548640" y="4709160"/>
          <a:ext cx="5669280" cy="1737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" name="Text 15"/>
          <p:cNvSpPr/>
          <p:nvPr/>
        </p:nvSpPr>
        <p:spPr>
          <a:xfrm>
            <a:off x="6675120" y="4846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~17–20% CAGR</a:t>
            </a:r>
            <a:endParaRPr lang="en-US" sz="2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~$30B LMS market — a fast wave with budget attached.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Differentiators that are hard to copy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0136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97510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Pedagogically constrained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91640" y="20756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Won’t give answers — the reason faculty adopt it. Product + positioning moat vs. “just use ChatGPT.”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508760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19672" y="1801368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408" y="197510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066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Privacy-first &amp; self-hostable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406640" y="2075688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 AI key, FERPA-aware, no telemetry — dissolves the #1 institutional blocker to AI.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035808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04672" y="3328416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" y="3502152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91640" y="3218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Any-LMS and standalone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691640" y="360273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schools where they are, or bypass IT entirely. Competitors are locked to one platform.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263640" y="3035808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19672" y="3328416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3502152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06640" y="3218688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Open-source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406640" y="3602736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Trust, no lock-in, auditability, contributor community — a closed vendor can’t match it.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48640" y="4562856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804672" y="4855464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408" y="502920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691640" y="47457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for reach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1691640" y="5129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+ RTL, low-resource friendly — opens Global South and ESL markets others ignore.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6263640" y="4562856"/>
            <a:ext cx="5349240" cy="1325880"/>
          </a:xfrm>
          <a:prstGeom prst="roundRect">
            <a:avLst>
              <a:gd name="adj" fmla="val 689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519672" y="4855464"/>
            <a:ext cx="713232" cy="71323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502920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406640" y="4745736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Already built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406640" y="5129784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 production-ready platform exists today — not a concept. Ready to pilot now.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focused beachhead inside a large, growing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058400" cy="1143000"/>
          </a:xfrm>
          <a:prstGeom prst="roundRect">
            <a:avLst>
              <a:gd name="adj" fmla="val 8000"/>
            </a:avLst>
          </a:prstGeom>
          <a:solidFill>
            <a:srgbClr val="3C348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194560" y="1828800"/>
            <a:ext cx="8138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Adaptive-learning software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~$3B (2026) → ~$12B (2035), inside a ~$30B LMS market.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463040" y="315468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5A52A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737360" y="315468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SAM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108960" y="3154680"/>
            <a:ext cx="6309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Higher-ed STEM gateway courses in LTI-1.3 institutions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Thousands of universities, each with dozens of high-DFW courses.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377440" y="4480560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1F9D6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651760" y="448056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SOM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023360" y="4480560"/>
            <a:ext cx="4480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 CS / data-science at US R1s &amp; peers — the beachhead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departments via faculty; expand to site licenses.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check: $ per at-risk student / term × students in the beachhead. Per-institution figures are estimates to validate in the pilot.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Open-core: free to adopt, paid when run for you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software stays free and open — that’s our trust, adoption, and mission engine. Revenue comes from institutions that want it hosted, secured, and supported. The proven GitLab / Discourse / Moodle model.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526030" cy="2377440"/>
          </a:xfrm>
          <a:prstGeom prst="roundRect">
            <a:avLst>
              <a:gd name="adj" fmla="val 4615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6517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2807208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429000"/>
            <a:ext cx="1977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Free forever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2960" y="384048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 open-source. Drives adoption, trust, pilots, community.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94710" y="2377440"/>
            <a:ext cx="2526030" cy="2377440"/>
          </a:xfrm>
          <a:prstGeom prst="roundRect">
            <a:avLst>
              <a:gd name="adj" fmla="val 4615"/>
            </a:avLst>
          </a:prstGeom>
          <a:solidFill>
            <a:srgbClr val="3C348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69030" y="2651760"/>
            <a:ext cx="658368" cy="658368"/>
          </a:xfrm>
          <a:prstGeom prst="ellipse">
            <a:avLst/>
          </a:prstGeom>
          <a:solidFill>
            <a:srgbClr val="2A246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478" y="28072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69030" y="3429000"/>
            <a:ext cx="1977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LMS Bridge Cloud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3669030" y="384048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secured, auto-updated hosting. Priced per active student / term or site license.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6240780" y="2377440"/>
            <a:ext cx="2526030" cy="2377440"/>
          </a:xfrm>
          <a:prstGeom prst="roundRect">
            <a:avLst>
              <a:gd name="adj" fmla="val 4615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15100" y="26517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2807208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5100" y="3429000"/>
            <a:ext cx="1977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Institution add-ons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6515100" y="384048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SSO/SAML, admin analytics, content libraries, SLAs, priority support.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9086850" y="2377440"/>
            <a:ext cx="2526030" cy="2377440"/>
          </a:xfrm>
          <a:prstGeom prst="roundRect">
            <a:avLst>
              <a:gd name="adj" fmla="val 4615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361170" y="26517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6618" y="2807208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1170" y="3429000"/>
            <a:ext cx="19773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3C348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Services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361170" y="3840480"/>
            <a:ext cx="1977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Onboarding, training, custom LMS &amp; integration work.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Sage with one professor  →  paid department pilot  →  institution-wide contract.  AI inference is bring-your-own-key, keeping margins software-like.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Bottom-up, product-led — land, prove, expand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491740" cy="246888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10462" y="2194560"/>
            <a:ext cx="768096" cy="768096"/>
          </a:xfrm>
          <a:prstGeom prst="ellipse">
            <a:avLst/>
          </a:prstGeom>
          <a:solidFill>
            <a:srgbClr val="3C3489"/>
          </a:solidFill>
          <a:ln/>
        </p:spPr>
      </p:sp>
      <p:sp>
        <p:nvSpPr>
          <p:cNvPr id="6" name="Text 4"/>
          <p:cNvSpPr/>
          <p:nvPr/>
        </p:nvSpPr>
        <p:spPr>
          <a:xfrm>
            <a:off x="141046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Land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instructor adopts free Sage — no approval needed. The zero-friction wedge.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5866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406140" y="1920240"/>
            <a:ext cx="2491740" cy="246888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67962" y="2194560"/>
            <a:ext cx="768096" cy="768096"/>
          </a:xfrm>
          <a:prstGeom prst="ellipse">
            <a:avLst/>
          </a:prstGeom>
          <a:solidFill>
            <a:srgbClr val="3C3489"/>
          </a:solidFill>
          <a:ln/>
        </p:spPr>
      </p:sp>
      <p:sp>
        <p:nvSpPr>
          <p:cNvPr id="12" name="Text 10"/>
          <p:cNvSpPr/>
          <p:nvPr/>
        </p:nvSpPr>
        <p:spPr>
          <a:xfrm>
            <a:off x="426796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589020" y="3108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Champion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34740" y="356616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enthusiastic faculty into internal advocates (advocacy kit + one-click “connect your LMS”).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1616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263640" y="1920240"/>
            <a:ext cx="2491740" cy="246888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25462" y="2194560"/>
            <a:ext cx="768096" cy="768096"/>
          </a:xfrm>
          <a:prstGeom prst="ellipse">
            <a:avLst/>
          </a:prstGeom>
          <a:solidFill>
            <a:srgbClr val="3C3489"/>
          </a:solidFill>
          <a:ln/>
        </p:spPr>
      </p:sp>
      <p:sp>
        <p:nvSpPr>
          <p:cNvPr id="18" name="Text 16"/>
          <p:cNvSpPr/>
          <p:nvPr/>
        </p:nvSpPr>
        <p:spPr>
          <a:xfrm>
            <a:off x="712546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46520" y="3108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356616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pilots produce concept-mastery outcome data and case studies.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3668" y="274320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121140" y="1920240"/>
            <a:ext cx="2491740" cy="2468880"/>
          </a:xfrm>
          <a:prstGeom prst="roundRect">
            <a:avLst>
              <a:gd name="adj" fmla="val 4444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82962" y="2194560"/>
            <a:ext cx="768096" cy="768096"/>
          </a:xfrm>
          <a:prstGeom prst="ellipse">
            <a:avLst/>
          </a:prstGeom>
          <a:solidFill>
            <a:srgbClr val="3C3489"/>
          </a:solidFill>
          <a:ln/>
        </p:spPr>
      </p:sp>
      <p:sp>
        <p:nvSpPr>
          <p:cNvPr id="24" name="Text 22"/>
          <p:cNvSpPr/>
          <p:nvPr/>
        </p:nvSpPr>
        <p:spPr>
          <a:xfrm>
            <a:off x="9982962" y="21945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304020" y="3108960"/>
            <a:ext cx="21259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Expand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9349740" y="356616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justifies paid site licenses; grow by discipline and campus.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Beachhead: NYU + peer institutions’ intro CS / data-science courses — highest pain, highest willingness to experiment.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trusted, open, low-friction middle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6424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874520"/>
                <a:gridCol w="1874520"/>
                <a:gridCol w="1783080"/>
                <a:gridCol w="246888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adaptive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LMS-native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quiz tools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C348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LMS Bridge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9D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 in your existing LMS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Sometimes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(any) + standalone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Won’t give answers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Partly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Privacy / self-host / FERPA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/ no lock-in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to adopt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Low, unmanaged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F6B4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core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A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4E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B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Incumbents are expensive, closed and content-locked; chatbots aren’t trusted because they do the work for students. We’re the middle faculty actually allow.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&amp;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Product is built — now we prove adoption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F9D6B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Done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46120" y="1737360"/>
            <a:ext cx="8092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production-ready platform: LTI 1.3/Advantage, multi-LMS sync, standalone Sage, pedagogically constrained AI engine, multilingual UI, security/compliance docs. Open-source, deployable today.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3401568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3C348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4015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Now → next term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246120" y="3108960"/>
            <a:ext cx="8092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Design-partner pilots at NYU producing the first concept-mastery outcome data, and a published pilot study.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4805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EEF0F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4773168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5A52A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73168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46120" y="4480560"/>
            <a:ext cx="8092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pilots to first paying departments; stand up LMS Bridge Cloud; expand by discipline and campus.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We’ve de-risked “can we build it” completely. This program de-risks “will institutions adopt and pay” — exactly what the pilots prove.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C348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Seed funding + mentorship to turn a finished product into proven, paying adoption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526030" cy="1737360"/>
          </a:xfrm>
          <a:prstGeom prst="roundRect">
            <a:avLst>
              <a:gd name="adj" fmla="val 6316"/>
            </a:avLst>
          </a:prstGeom>
          <a:solidFill>
            <a:srgbClr val="2A2461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2395728"/>
            <a:ext cx="2068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Pilots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852928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&amp; instrument design-partner courses (incl. modest AI credits).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94710" y="2194560"/>
            <a:ext cx="2526030" cy="1737360"/>
          </a:xfrm>
          <a:prstGeom prst="roundRect">
            <a:avLst>
              <a:gd name="adj" fmla="val 6316"/>
            </a:avLst>
          </a:prstGeom>
          <a:solidFill>
            <a:srgbClr val="2A2461"/>
          </a:solidFill>
          <a:ln/>
        </p:spPr>
      </p:sp>
      <p:sp>
        <p:nvSpPr>
          <p:cNvPr id="8" name="Text 6"/>
          <p:cNvSpPr/>
          <p:nvPr/>
        </p:nvSpPr>
        <p:spPr>
          <a:xfrm>
            <a:off x="3650742" y="2395728"/>
            <a:ext cx="2068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Team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3650742" y="2852928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engineer / co-founder; learning-science advisor.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40780" y="2194560"/>
            <a:ext cx="2526030" cy="1737360"/>
          </a:xfrm>
          <a:prstGeom prst="roundRect">
            <a:avLst>
              <a:gd name="adj" fmla="val 6316"/>
            </a:avLst>
          </a:prstGeom>
          <a:solidFill>
            <a:srgbClr val="2A2461"/>
          </a:solidFill>
          <a:ln/>
        </p:spPr>
      </p:sp>
      <p:sp>
        <p:nvSpPr>
          <p:cNvPr id="11" name="Text 9"/>
          <p:cNvSpPr/>
          <p:nvPr/>
        </p:nvSpPr>
        <p:spPr>
          <a:xfrm>
            <a:off x="6496812" y="2395728"/>
            <a:ext cx="2068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Cloud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96812" y="2852928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managed hosting for the first paying departments.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086850" y="2194560"/>
            <a:ext cx="2526030" cy="1737360"/>
          </a:xfrm>
          <a:prstGeom prst="roundRect">
            <a:avLst>
              <a:gd name="adj" fmla="val 6316"/>
            </a:avLst>
          </a:prstGeom>
          <a:solidFill>
            <a:srgbClr val="2A2461"/>
          </a:solidFill>
          <a:ln/>
        </p:spPr>
      </p:sp>
      <p:sp>
        <p:nvSpPr>
          <p:cNvPr id="14" name="Text 12"/>
          <p:cNvSpPr/>
          <p:nvPr/>
        </p:nvSpPr>
        <p:spPr>
          <a:xfrm>
            <a:off x="9342882" y="2395728"/>
            <a:ext cx="20688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Evidence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342882" y="2852928"/>
            <a:ext cx="20688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study + case studies that close institutional contracts.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2A24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062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D7DA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Hasan Aljabbouli (NYU) — built the full platform. Plan: recruit a technical co-founder, a faculty design-partner cohort, and a learning-science advisor.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42062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92240" y="4206240"/>
            <a:ext cx="48463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we’ll return with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Mastery-gain data from real courses — and our first paying department.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B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Vision: every student in a hard, cumulative course gets a patient, private guide at the moment they slip — any class size, any budget, any country.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LMS Bridge — NYU Entrepreneurs Challenge</dc:title>
  <dc:subject>PptxGenJS Presentation</dc:subject>
  <dc:creator>Hasan Aljabbouli</dc:creator>
  <cp:lastModifiedBy>Hasan Aljabbouli</cp:lastModifiedBy>
  <cp:revision>1</cp:revision>
  <dcterms:created xsi:type="dcterms:W3CDTF">2026-06-25T21:51:42Z</dcterms:created>
  <dcterms:modified xsi:type="dcterms:W3CDTF">2026-06-25T21:51:42Z</dcterms:modified>
</cp:coreProperties>
</file>